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097280"/>
            <a:ext cx="9601200" cy="7315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2900" b="1">
                <a:solidFill>
                  <a:srgbClr val="000000"/>
                </a:solidFill>
                <a:latin typeface="Microsoft YaHei"/>
              </a:rPr>
              <a:t>SoftwareTestingDemo  测试成果展示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9966960" cy="8229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700" b="0">
                <a:solidFill>
                  <a:srgbClr val="000000"/>
                </a:solidFill>
                <a:latin typeface="Microsoft YaHei"/>
              </a:rPr>
              <a:t>第 PJ1 小组   胡彬泽 沙华煜 彭祈元 郭政颖 周宇尘</a:t>
            </a:r>
          </a:p>
          <a:p>
            <a:pPr algn="ctr"/>
            <a:r>
              <a:rPr sz="1700" b="0">
                <a:solidFill>
                  <a:srgbClr val="000000"/>
                </a:solidFill>
                <a:latin typeface="Microsoft YaHei"/>
              </a:rPr>
              <a:t>测试计划标识   Project1_TestPlan_V1.2_20260423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PJ1主要内容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5029200" cy="3566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Microsoft YaHei"/>
              </a:rPr>
              <a:t>1. 测试计划规定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测试项与先决条件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通过/失败准则与风险管控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小组分工与时间安排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交付物与可复现环境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45920"/>
            <a:ext cx="5029200" cy="3566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Microsoft YaHei"/>
              </a:rPr>
              <a:t>2. 测试本身完成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service 单元测试与 controller 集成测试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黑盒等价类/边界值 + 白盒语句/判定覆盖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JUnit5、Mockito、MockMvc、H2、JaCoCo</a:t>
            </a:r>
          </a:p>
          <a:p>
            <a:r>
              <a:rPr sz="1700" b="0">
                <a:solidFill>
                  <a:srgbClr val="000000"/>
                </a:solidFill>
                <a:latin typeface="Microsoft YaHei"/>
              </a:rPr>
              <a:t>• 执行结果、覆盖率与测试小结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测试项 &amp; 先决条件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63040"/>
            <a:ext cx="5303520" cy="29260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测试项版本/修订号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service 层：7 个实现类，覆盖核心业务方法 45 个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controller 层：11 类控制器，覆盖 65 个请求映射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测试脚本：7 个 service 测试类 + 8 个 controller 集成测试类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测试入口：项目根目录执行 mvn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4754880" cy="29260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其中的环境需求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JDK 8+、Maven、Spring Boot 2.2.2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H2 内存库启用 MySQL 兼容模式，不依赖本机 MySQL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JUnit5 + Mockito + MockMvc 作为自动化测试基座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JaCoCo 报告生成到 target/site/jacoco/index.html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60120"/>
            <a:ext cx="4846320" cy="44805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测试项通过/失败准则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全部自动化用例通过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JaCoCo 报告正常生成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整体指令覆盖率 ≥ 85%，分支覆盖率 ≥ 75%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新克隆环境可重复执行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4846320" cy="44805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700" b="1">
                <a:solidFill>
                  <a:srgbClr val="000000"/>
                </a:solidFill>
                <a:latin typeface="Microsoft YaHei"/>
              </a:rPr>
              <a:t>暂停准则和继续准则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测试基座或依赖失效时暂停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核心模块无法编译时暂停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严重缺陷修复、环境恢复后继续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需求或范围变化后同步更新用例与文档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86400"/>
            <a:ext cx="9875520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400" b="0">
                <a:solidFill>
                  <a:srgbClr val="AB4824"/>
                </a:solidFill>
                <a:latin typeface="Microsoft YaHei"/>
              </a:rPr>
              <a:t>通过：128 条测试全部通过；失败：出现阻断缺陷、报告缺失或环境不可复现。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风险管控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417320" y="155448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310896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风险类型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本项目表现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应急措施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数据库差异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H2 与 MySQL 可能存在少量行为差异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启用 MySQL 模式；差异写入测试总结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覆盖盲区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FileUtil 真实落盘未完全覆盖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列为已知限制；后续隔离文件系统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脚本维护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文档和脚本可能不同步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统一编号；提交前执行 mvn test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UI 风险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未做浏览器级 UI 自动化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明确范围外；后续补 E2E 回归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57200"/>
            <a:ext cx="1280160" cy="1280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2700" b="1">
                <a:solidFill>
                  <a:srgbClr val="000000"/>
                </a:solidFill>
                <a:latin typeface="Microsoft YaHei"/>
              </a:rPr>
              <a:t>组员</a:t>
            </a:r>
          </a:p>
          <a:p>
            <a:r>
              <a:rPr sz="2700" b="1">
                <a:solidFill>
                  <a:srgbClr val="000000"/>
                </a:solidFill>
                <a:latin typeface="Microsoft YaHei"/>
              </a:rPr>
              <a:t>分工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48840" y="594360"/>
          <a:ext cx="86868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  <a:gridCol w="2171700"/>
                <a:gridCol w="217170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小组成员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职责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任务占比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胡彬泽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环境搭建；service 单测；controller 集成测试；覆盖率报告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沙华煜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项目测试计划书；统一团队口径；交付清单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彭祈元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单元测试用例文档；维护 UT 编号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郭政颖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集成测试用例文档；维护 controller 编号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周宇尘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测试总结；结果汇总；改进建议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时间安排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143000"/>
          <a:ext cx="109728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日期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任务安排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</a:rPr>
                        <a:t>输出成果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04.06-04.12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service 单元测试编写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7 个 service 测试类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04.10-04.16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controller 集成测试编写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8 个集成测试脚本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04.17-04.18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全量 mvn test 与覆盖率收集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JaCoCo + Surefire 报告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04.19-04.22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测试计划、用例文档、总结对齐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三份课程文档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04.23-04.26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PPT 汇报与提交包整理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Microsoft YaHei"/>
                        </a:rPr>
                        <a:t>PDF + 源码压缩包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"/>
            <a:ext cx="4846320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Microsoft YaHei"/>
              </a:rPr>
              <a:t>PJ1测试的主要方法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234440"/>
            <a:ext cx="10789920" cy="42976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Microsoft YaHei"/>
              </a:rPr>
              <a:t>• 主要活动：编写测试脚本、执行测试用例、分析覆盖率与结果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技术：JUnit5、SpringBootTest、Mockito、MockMvc、H2、JaCoCo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黑盒：等价类划分、边界值分析，用于参数、ID、状态值、页码等输入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白盒：语句覆盖、判定覆盖，用于 service 分支与 controller 登录/跳转逻辑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冗余控制：合并同等价类和相同结果路径，保留代表性用例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测试覆盖 service 与 controller 两层核心模块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737360"/>
            <a:ext cx="1609344" cy="384048"/>
          </a:xfrm>
          <a:prstGeom prst="rect">
            <a:avLst/>
          </a:prstGeom>
          <a:solidFill>
            <a:srgbClr val="109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用户与登录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UserService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UserController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AdminUserController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79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68879" y="1737360"/>
            <a:ext cx="1609344" cy="384048"/>
          </a:xfrm>
          <a:prstGeom prst="rect">
            <a:avLst/>
          </a:prstGeom>
          <a:solidFill>
            <a:srgbClr val="72B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场馆信息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203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VenueService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VenueController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AdminVenueController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737360"/>
            <a:ext cx="1609344" cy="384048"/>
          </a:xfrm>
          <a:prstGeom prst="rect">
            <a:avLst/>
          </a:prstGeom>
          <a:solidFill>
            <a:srgbClr val="29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预约订单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OrderService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OrderVoService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OrderController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737360"/>
            <a:ext cx="1609344" cy="384048"/>
          </a:xfrm>
          <a:prstGeom prst="rect">
            <a:avLst/>
          </a:prstGeom>
          <a:solidFill>
            <a:srgbClr val="2A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留言板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MessageService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MessageVoService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MessageController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737360"/>
            <a:ext cx="1609344" cy="384048"/>
          </a:xfrm>
          <a:prstGeom prst="rect">
            <a:avLst/>
          </a:prstGeom>
          <a:solidFill>
            <a:srgbClr val="F1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新闻展示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NewsService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NewsController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AdminNewsController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66960" y="1737360"/>
            <a:ext cx="1609344" cy="384048"/>
          </a:xfrm>
          <a:prstGeom prst="rect">
            <a:avLst/>
          </a:prstGeom>
          <a:solidFill>
            <a:srgbClr val="AB4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公共首页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IndexController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公共内容展示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icrosoft YaHei"/>
              </a:rPr>
              <a:t>首页数据聚合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不会被测试的特性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417320"/>
          <a:ext cx="109728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不会被测试的特性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浏览器 UI 自动化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PJ1 要求聚焦 service 单元测试与 controller 集成测试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性能压测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课程任务未要求吞吐、并发与响应时间指标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安全渗透测试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仅验证登录态与权限分支，不做漏洞扫描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真实 MySQL 专有行为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H2 MySQL 模式用于可复现测试，真实库差异列为限制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真实文件落盘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FileUtil 与业务主流程关联较弱，后续可单独隔离补测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28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00000"/>
                </a:solidFill>
                <a:latin typeface="Microsoft YaHei"/>
              </a:rPr>
              <a:t>测试用例设计文档</a:t>
            </a:r>
          </a:p>
          <a:p>
            <a:r>
              <a:rPr sz="2500" b="1">
                <a:solidFill>
                  <a:srgbClr val="000000"/>
                </a:solidFill>
                <a:latin typeface="Microsoft YaHei"/>
              </a:rPr>
              <a:t>以订单状态流转为例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508760"/>
          <a:ext cx="111099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2777490"/>
                <a:gridCol w="2777490"/>
                <a:gridCol w="277749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设计技术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代表输入/场景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预期结果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编号口径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等价类划分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合法用户、合法场馆、存在的订单 ID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订单创建/查询成功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订单相关用例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边界值分析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page 默认值、非法页码、空参数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返回默认页或异常路径被验证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分页与参数用例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语句覆盖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创建、取消、查询等核心业务路径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可达语句至少执行一次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单元测试用例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审核通过/拒绝、未登录/已登录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true/false 两侧均被验证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</a:rPr>
                        <a:t>集成测试用例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覆盖率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325880"/>
            <a:ext cx="2011680" cy="914400"/>
          </a:xfrm>
          <a:prstGeom prst="roundRect">
            <a:avLst/>
          </a:prstGeom>
          <a:solidFill>
            <a:srgbClr val="109D71"/>
          </a:solidFill>
          <a:ln w="6350">
            <a:solidFill>
              <a:srgbClr val="109D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128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自动化测试全部通过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2011680" cy="914400"/>
          </a:xfrm>
          <a:prstGeom prst="roundRect">
            <a:avLst/>
          </a:prstGeom>
          <a:solidFill>
            <a:srgbClr val="29ADD1"/>
          </a:solidFill>
          <a:ln w="6350">
            <a:solidFill>
              <a:srgbClr val="29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92.54%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整体指令覆盖率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2011680" cy="914400"/>
          </a:xfrm>
          <a:prstGeom prst="roundRect">
            <a:avLst/>
          </a:prstGeom>
          <a:solidFill>
            <a:srgbClr val="F19100"/>
          </a:solidFill>
          <a:ln w="6350">
            <a:solidFill>
              <a:srgbClr val="F1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80.77%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整体分支覆盖率</a:t>
            </a:r>
          </a:p>
        </p:txBody>
      </p:sp>
      <p:pic>
        <p:nvPicPr>
          <p:cNvPr id="14" name="Picture 13" descr="coverage_summary_show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43000"/>
            <a:ext cx="7863840" cy="3886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83280" y="5212080"/>
            <a:ext cx="7498079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300" b="0">
                <a:solidFill>
                  <a:srgbClr val="696969"/>
                </a:solidFill>
                <a:latin typeface="Microsoft YaHei"/>
              </a:rPr>
              <a:t>补充：service.impl 指令/分支覆盖率 100%；controller 指令覆盖率 98.54%，分支覆盖率 82.35%。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每个测试类里的基本思路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234440"/>
            <a:ext cx="10881360" cy="43891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Microsoft YaHei"/>
              </a:rPr>
              <a:t>• service 单测：@ExtendWith + MockitoExtension 隔离 DAO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controller 集成：@SpringBootTest + @AutoConfigureMockMvc 启动上下文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BeforeEach / TestDataFactory 统一造数，保证测试互不污染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MockMvc perform 后校验 status、view、redirect、model 属性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执行 mvn test 后由 Surefire 与 JaCoCo 汇总结果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Microsoft YaHei"/>
              </a:rPr>
              <a:t>示例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34440"/>
            <a:ext cx="5303520" cy="3246120"/>
          </a:xfrm>
          <a:prstGeom prst="roundRect">
            <a:avLst/>
          </a:prstGeom>
          <a:solidFill>
            <a:srgbClr val="F7F9FC"/>
          </a:solidFill>
          <a:ln w="6350"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@Test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void cancelOrder_shouldRedirectWhenLoginUserOwnsOrder() {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mockMvc.perform(get("/order/cancel")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.param("orderID", "1")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  .sessionAttr("user", user))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.andExpect(status().is3xxRedirection())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  .andExpect(redirectedUrl("/order/list"));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303520" cy="3246120"/>
          </a:xfrm>
          <a:prstGeom prst="roundRect">
            <a:avLst/>
          </a:prstGeom>
          <a:solidFill>
            <a:srgbClr val="F7F9FC"/>
          </a:solidFill>
          <a:ln w="6350"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@Test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void checkLogin_shouldReturnNullWhenPasswordMismatch() {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when(userDao.getUser("u01")).thenReturn(user);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User result = userService.checkLogin("u01", "bad");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    assertNull(result);</a:t>
            </a:r>
          </a:p>
          <a:p>
            <a:pPr algn="l"/>
            <a:r>
              <a:rPr sz="1000">
                <a:solidFill>
                  <a:srgbClr val="283C50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892040"/>
            <a:ext cx="7498079" cy="5029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600" b="0">
                <a:solidFill>
                  <a:srgbClr val="AB4824"/>
                </a:solidFill>
                <a:latin typeface="Microsoft YaHei"/>
              </a:rPr>
              <a:t>左侧：controller 集成测试路径校验</a:t>
            </a:r>
          </a:p>
          <a:p>
            <a:pPr algn="ctr"/>
            <a:r>
              <a:rPr sz="1600" b="0">
                <a:solidFill>
                  <a:srgbClr val="AB4824"/>
                </a:solidFill>
                <a:latin typeface="Microsoft YaHei"/>
              </a:rPr>
              <a:t>右侧：service 单元测试分支校验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元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测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测试模块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用例数量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用户服务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登录、注册、增删改查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场馆查询、更新、删除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订单服务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14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订单创建、取消、审核状态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11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留言发布、审核、删除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新闻列表、详情、维护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聚合查询服务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VO 聚合查询与边界路径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公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共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示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测试设计技术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首页展示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首页内容正常加载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集成测试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按页展示新闻数据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 + 边界值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新闻详情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查看存在 / 不存在新闻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边界值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展示场馆与分页信息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预约入口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登录与未登录访问分流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按名称查询有效/无效场馆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预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约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订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订单列表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分页查看个人订单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登录态 + page 边界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创建订单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合法预约 / 无效输入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有效类 / 无效类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取消订单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本人订单与非本人订单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权限与状态流转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管理员列表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按状态筛选订单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筛选与分页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审核订单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通过 / 拒绝两类结果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 true/false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状态推进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创建、取消、审核全流程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语句覆盖 + 异常路径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用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户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登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测试设计技术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登录成功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合法账号与密码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有效等价类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登录失败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错误密码 / 不存在账号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无效等价类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注册用户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新账号 / 重复账号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边界值 + 重复值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退出登录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清理会话状态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状态校验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管理员维护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用户增删改查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服务校验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登录、注册、删除、更新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语句覆盖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留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言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板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留言列表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分页查看留言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分页边界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发布留言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登录用户发布有效内容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登录态 + 有效输入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空内容留言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空内容 / 缺少参数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无效等价类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删除留言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本人删除 / 非法删除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权限路径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管理员审核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通过 / 拒绝留言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判定覆盖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聚合查询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留言与用户信息组合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聚合查询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后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台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理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Microsoft YaHei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2663190"/>
                <a:gridCol w="2663190"/>
                <a:gridCol w="266319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特性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代表场景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覆盖重点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场馆新增/修改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合法数据 / 边界价格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有效类 + 边界值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场馆删除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存在 ID / 不存在 ID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异常路径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新闻新增/修改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空标题 / 有效内容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无效类 + 有效类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新闻删除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删除后重定向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状态码与跳转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用户管理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重复账号与无效 ID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重复值 + 边界值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公共跳转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视图、模型、重定向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icrosoft YaHei"/>
                        </a:rPr>
                        <a:t>集成链路验证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419088"/>
            <a:ext cx="12801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000000"/>
                </a:solidFill>
                <a:latin typeface="Microsoft YaHei"/>
              </a:rPr>
              <a:t>图表21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2920"/>
            <a:ext cx="4389120" cy="6858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2800" b="1">
                <a:solidFill>
                  <a:srgbClr val="000000"/>
                </a:solidFill>
                <a:latin typeface="Microsoft YaHei"/>
              </a:rPr>
              <a:t>测试小结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10058400" cy="420624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本次测试已覆盖 service 与 controller 的核心功能链路，自动化脚本可重复执行。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128 条测试全部通过，整体指令覆盖率 92.54%，分支覆盖率 80.77%，满足测试计划出口准则。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用例设计同时体现等价类划分、边界值分析、语句覆盖与判定覆盖，兼顾完整性与冗余控制。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当前范围不包含浏览器 UI 自动化、性能测试和真实 MySQL 差异验证，这些已在《测试总结》中列为后续优化方向。</a:t>
            </a:r>
          </a:p>
          <a:p>
            <a:r>
              <a:rPr sz="1500" b="0">
                <a:solidFill>
                  <a:srgbClr val="000000"/>
                </a:solidFill>
                <a:latin typeface="Microsoft YaHei"/>
              </a:rPr>
              <a:t>• 提交前建议再次执行 mvn test，并将三份文档 PDF 与源码统一打包为 PJ1-小组编号.zip。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
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097280"/>
            <a:ext cx="9601200" cy="7315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2900" b="1">
                <a:solidFill>
                  <a:srgbClr val="000000"/>
                </a:solidFill>
                <a:latin typeface="Microsoft YaHei"/>
              </a:rPr>
              <a:t>SoftwareTestingDemo  测试成果展示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9966960" cy="8229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700" b="0">
                <a:solidFill>
                  <a:srgbClr val="000000"/>
                </a:solidFill>
                <a:latin typeface="Microsoft YaHei"/>
              </a:rPr>
              <a:t>第 PJ1 小组   胡彬泽 沙华煜 彭祈元 郭政颖 周宇尘</a:t>
            </a:r>
          </a:p>
          <a:p>
            <a:pPr algn="ctr"/>
            <a:r>
              <a:rPr sz="1700" b="0">
                <a:solidFill>
                  <a:srgbClr val="000000"/>
                </a:solidFill>
                <a:latin typeface="Microsoft YaHei"/>
              </a:rPr>
              <a:t>测试计划标识   Project1_TestPlan_V1.2_20260423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PJ1主要内容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5029200" cy="3566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Microsoft YaHei"/>
              </a:rPr>
              <a:t>1. 测试计划规定</a:t>
            </a:r>
          </a:p>
          <a:p>
            <a:r>
              <a:rPr sz="1700" b="0">
                <a:solidFill>
                  <a:srgbClr val="000000"/>
                </a:solidFill>
                <a:latin typeface="Microsoft YaHei"/>
              </a:rPr>
              <a:t>• 测试项与先决条件</a:t>
            </a:r>
          </a:p>
          <a:p>
            <a:r>
              <a:rPr sz="1700" b="0">
                <a:solidFill>
                  <a:srgbClr val="000000"/>
                </a:solidFill>
                <a:latin typeface="Microsoft YaHei"/>
              </a:rPr>
              <a:t>• 通过/失败准则与风险管控</a:t>
            </a:r>
          </a:p>
          <a:p>
            <a:r>
              <a:rPr sz="1700" b="0">
                <a:solidFill>
                  <a:srgbClr val="000000"/>
                </a:solidFill>
                <a:latin typeface="Microsoft YaHei"/>
              </a:rPr>
              <a:t>• 小组分工与时间安排</a:t>
            </a:r>
          </a:p>
          <a:p>
            <a:r>
              <a:rPr sz="1700" b="0">
                <a:solidFill>
                  <a:srgbClr val="000000"/>
                </a:solidFill>
                <a:latin typeface="Microsoft YaHei"/>
              </a:rPr>
              <a:t>• 交付物与可复现环境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5029200" cy="3566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Microsoft YaHei"/>
              </a:rPr>
              <a:t>2. 测试本身完成</a:t>
            </a:r>
          </a:p>
          <a:p>
            <a:r>
              <a:rPr sz="1700" b="0">
                <a:solidFill>
                  <a:srgbClr val="000000"/>
                </a:solidFill>
                <a:latin typeface="Microsoft YaHei"/>
              </a:rPr>
              <a:t>• service 单元测试与 controller 集成测试</a:t>
            </a:r>
          </a:p>
          <a:p>
            <a:r>
              <a:rPr sz="1700" b="0">
                <a:solidFill>
                  <a:srgbClr val="000000"/>
                </a:solidFill>
                <a:latin typeface="Microsoft YaHei"/>
              </a:rPr>
              <a:t>• 黑盒等价类/边界值 + 白盒语句/判定覆盖</a:t>
            </a:r>
          </a:p>
          <a:p>
            <a:r>
              <a:rPr sz="1700" b="0">
                <a:solidFill>
                  <a:srgbClr val="000000"/>
                </a:solidFill>
                <a:latin typeface="Microsoft YaHei"/>
              </a:rPr>
              <a:t>• JUnit5、Mockito、MockMvc、H2、JaCoCo</a:t>
            </a:r>
          </a:p>
          <a:p>
            <a:r>
              <a:rPr sz="1700" b="0">
                <a:solidFill>
                  <a:srgbClr val="000000"/>
                </a:solidFill>
                <a:latin typeface="Microsoft YaHei"/>
              </a:rPr>
              <a:t>• 执行结果、覆盖率与测试小结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测试项 &amp; 先决条件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5303520" cy="29260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700" b="1">
                <a:solidFill>
                  <a:srgbClr val="000000"/>
                </a:solidFill>
                <a:latin typeface="Microsoft YaHei"/>
              </a:rPr>
              <a:t>测试项版本/修订号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service 层：7 个实现类，覆盖核心业务方法 45 个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controller 层：11 类控制器，覆盖 65 个请求映射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测试脚本：7 个 service 测试类 + 8 个 controller 集成测试类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测试入口：在 SoftwareTestingDemo/SoftwareTestingDemo 下执行 mvn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754880" cy="29260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700" b="1">
                <a:solidFill>
                  <a:srgbClr val="000000"/>
                </a:solidFill>
                <a:latin typeface="Microsoft YaHei"/>
              </a:rPr>
              <a:t>其中的环境需求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JDK 8+、Maven、Spring Boot 2.2.2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H2 内存库启用 MySQL 兼容模式，不依赖本机 MySQL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JUnit5 + Mockito + MockMvc 作为自动化测试基座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JaCoCo 报告生成到 target/site/jacoco/index.html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4846320" cy="44805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700" b="1">
                <a:solidFill>
                  <a:srgbClr val="000000"/>
                </a:solidFill>
                <a:latin typeface="Microsoft YaHei"/>
              </a:rPr>
              <a:t>测试项通过/失败准则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全部自动化用例通过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JaCoCo 报告正常生成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整体指令覆盖率 ≥ 85%，分支覆盖率 ≥ 75%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新克隆环境可重复执行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4846320" cy="44805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700" b="1">
                <a:solidFill>
                  <a:srgbClr val="000000"/>
                </a:solidFill>
                <a:latin typeface="Microsoft YaHei"/>
              </a:rPr>
              <a:t>暂停准则和继续准则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测试基座或依赖失效时暂停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核心模块无法编译时暂停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严重缺陷修复、环境恢复后继续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需求或范围变化后同步更新用例与文档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86400"/>
            <a:ext cx="9875520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400" b="0">
                <a:solidFill>
                  <a:srgbClr val="AB4824"/>
                </a:solidFill>
                <a:latin typeface="Microsoft YaHei"/>
              </a:rPr>
              <a:t>通过：128 条测试全部通过；失败：出现阻断缺陷、报告缺失或环境不可复现。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风险管控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417320" y="1554480"/>
          <a:ext cx="9326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310896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风险类型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本项目表现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应急措施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数据库差异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H2 与 MySQL 可能存在少量行为差异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启用 MySQL 模式；差异写入测试总结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覆盖盲区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FileUtil 真实落盘未完全覆盖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列为已知限制；后续隔离文件系统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脚本维护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文档和脚本可能不同步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统一编号；提交前执行 mvn test</a:t>
                      </a:r>
                    </a:p>
                  </a:txBody>
                  <a:tcPr>
                    <a:solidFill>
                      <a:srgbClr val="DEEF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UI 风险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未做浏览器级 UI 自动化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明确范围外；后续补 E2E 回归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57200"/>
            <a:ext cx="1280160" cy="1280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700" b="1">
                <a:solidFill>
                  <a:srgbClr val="000000"/>
                </a:solidFill>
                <a:latin typeface="Microsoft YaHei"/>
              </a:rPr>
              <a:t>组员</a:t>
            </a:r>
          </a:p>
          <a:p>
            <a:r>
              <a:rPr sz="2700" b="1">
                <a:solidFill>
                  <a:srgbClr val="000000"/>
                </a:solidFill>
                <a:latin typeface="Microsoft YaHei"/>
              </a:rPr>
              <a:t>分工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148840" y="594360"/>
          <a:ext cx="8686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小组成员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任务占比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胡彬泽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环境搭建；service 单测；controller 集成测试；覆盖率报告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40%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沙华煜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项目测试计划书；统一团队口径；交付清单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彭祈元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单元测试用例文档；维护 UT 编号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郭政颖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集成测试用例文档；维护 controller 编号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周宇尘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测试总结；结果汇总；改进建议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时间安排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14300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日期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任务安排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输出成果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04.06-04.12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service 单元测试编写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7 个 service 测试类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04.10-04.16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controller 集成测试编写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8 个集成测试脚本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04.17-04.18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全量 mvn test 与覆盖率收集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JaCoCo + Surefire 报告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04.19-04.22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测试计划、用例文档、总结对齐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三份课程文档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04.23-04.26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PPT 汇报与提交包整理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PDF + 源码压缩包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8640"/>
            <a:ext cx="4846320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Microsoft YaHei"/>
              </a:rPr>
              <a:t>PJ1测试的主要方法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10789920" cy="42976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• 主要活动：编写测试脚本、执行测试用例、分析覆盖率与结果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技术：JUnit5、SpringBootTest、Mockito、MockMvc、H2、JaCoCo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黑盒：等价类划分、边界值分析，用于参数、ID、状态值、页码等输入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白盒：语句覆盖、判定覆盖，用于 service 分支与 controller 登录/跳转逻辑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冗余控制：合并同等价类和相同结果路径，保留代表性用例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测试覆盖 service 与 controller 两层核心模块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737360"/>
            <a:ext cx="1609344" cy="384048"/>
          </a:xfrm>
          <a:prstGeom prst="rect">
            <a:avLst/>
          </a:prstGeom>
          <a:solidFill>
            <a:srgbClr val="109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用户与登录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UserService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UserController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AdminUserController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79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737360"/>
            <a:ext cx="1609344" cy="384048"/>
          </a:xfrm>
          <a:prstGeom prst="rect">
            <a:avLst/>
          </a:prstGeom>
          <a:solidFill>
            <a:srgbClr val="72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场馆信息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VenueService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VenueController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AdminVenueController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737360"/>
            <a:ext cx="1609344" cy="384048"/>
          </a:xfrm>
          <a:prstGeom prst="rect">
            <a:avLst/>
          </a:prstGeom>
          <a:solidFill>
            <a:srgbClr val="29A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预约订单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OrderService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OrderVoService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OrderController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37360"/>
            <a:ext cx="1609344" cy="384048"/>
          </a:xfrm>
          <a:prstGeom prst="rect">
            <a:avLst/>
          </a:prstGeom>
          <a:solidFill>
            <a:srgbClr val="2A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留言板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MessageService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MessageVoService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MessageController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737360"/>
            <a:ext cx="1609344" cy="384048"/>
          </a:xfrm>
          <a:prstGeom prst="rect">
            <a:avLst/>
          </a:prstGeom>
          <a:solidFill>
            <a:srgbClr val="F1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新闻展示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NewsService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NewsController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AdminNewsController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6960" y="1737360"/>
            <a:ext cx="1609344" cy="384048"/>
          </a:xfrm>
          <a:prstGeom prst="rect">
            <a:avLst/>
          </a:prstGeom>
          <a:solidFill>
            <a:srgbClr val="AB4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公共首页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IndexController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公共内容展示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首页数据聚合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不会被测试的特性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41732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不会被测试的特性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原因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浏览器 UI 自动化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PJ1 要求聚焦 service 单元测试与 controller 集成测试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性能压测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课程任务未要求吞吐、并发与响应时间指标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安全渗透测试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仅验证登录态与权限分支，不做漏洞扫描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真实 MySQL 专有行为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H2 MySQL 模式用于可复现测试，真实库差异列为限制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真实文件落盘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</a:rPr>
                        <a:t>FileUtil 与业务主流程关联较弱，后续可单独隔离补测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测试用例设计文档</a:t>
            </a:r>
          </a:p>
          <a:p>
            <a:r>
              <a:rPr sz="2500" b="1">
                <a:solidFill>
                  <a:srgbClr val="000000"/>
                </a:solidFill>
                <a:latin typeface="Microsoft YaHei"/>
              </a:rPr>
              <a:t>以订单状态流转为例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1099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设计技术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代表输入/路径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预期结果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编号口径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等价类划分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合法用户、合法场馆、存在的订单 ID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订单创建/查询成功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OC-01~OC-06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边界值分析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page 默认值、非法页码、空参数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返回默认页或异常路径被验证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OC-07~OC-10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语句覆盖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add / cancel / select 等 service 方法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可达语句至少执行一次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UT-ORDER-*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判定覆盖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审核通过/拒绝、未登录/已登录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true/false 两侧均被验证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AOC-* / OC-*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覆盖率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2011680" cy="914400"/>
          </a:xfrm>
          <a:prstGeom prst="roundRect">
            <a:avLst/>
          </a:prstGeom>
          <a:solidFill>
            <a:srgbClr val="109D71"/>
          </a:solidFill>
          <a:ln w="6350">
            <a:solidFill>
              <a:srgbClr val="109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128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自动化测试全部通过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2011680" cy="914400"/>
          </a:xfrm>
          <a:prstGeom prst="roundRect">
            <a:avLst/>
          </a:prstGeom>
          <a:solidFill>
            <a:srgbClr val="29ADD1"/>
          </a:solidFill>
          <a:ln w="6350">
            <a:solidFill>
              <a:srgbClr val="29A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92.54%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整体指令覆盖率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2011680" cy="914400"/>
          </a:xfrm>
          <a:prstGeom prst="roundRect">
            <a:avLst/>
          </a:prstGeom>
          <a:solidFill>
            <a:srgbClr val="F19100"/>
          </a:solidFill>
          <a:ln w="6350">
            <a:solidFill>
              <a:srgbClr val="F1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80.77%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整体分支覆盖率</a:t>
            </a:r>
          </a:p>
        </p:txBody>
      </p:sp>
      <p:pic>
        <p:nvPicPr>
          <p:cNvPr id="14" name="Picture 13" descr="coverage_summary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43000"/>
            <a:ext cx="7863840" cy="3886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83280" y="5212080"/>
            <a:ext cx="7498079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300" b="0">
                <a:solidFill>
                  <a:srgbClr val="696969"/>
                </a:solidFill>
                <a:latin typeface="Microsoft YaHei"/>
              </a:rPr>
              <a:t>补充：service.impl 指令/分支覆盖率 100%；controller 指令覆盖率 98.54%，分支覆盖率 82.35%。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每个测试类里的基本思路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10881360" cy="43891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• service 单测：@ExtendWith + MockitoExtension 隔离 DAO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controller 集成：@SpringBootTest + @AutoConfigureMockMvc 启动上下文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BeforeEach / TestDataFactory 统一造数，保证测试互不污染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MockMvc perform 后校验 status、view、redirect、model 属性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执行 mvn test 后由 Surefire 与 JaCoCo 汇总结果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Microsoft YaHei"/>
              </a:rPr>
              <a:t>示例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34440"/>
            <a:ext cx="5303520" cy="3246120"/>
          </a:xfrm>
          <a:prstGeom prst="roundRect">
            <a:avLst/>
          </a:prstGeom>
          <a:solidFill>
            <a:srgbClr val="F7F9FC"/>
          </a:solidFill>
          <a:ln w="635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@Test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void cancelOrder_shouldRedirectWhenLoginUserOwnsOrder() {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    mockMvc.perform(get("/order/cancel")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        .param("orderID", "1")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        .sessionAttr("user", user))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      .andExpect(status().is3xxRedirection())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      .andExpect(redirectedUrl("/order/list"));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3246120"/>
          </a:xfrm>
          <a:prstGeom prst="roundRect">
            <a:avLst/>
          </a:prstGeom>
          <a:solidFill>
            <a:srgbClr val="F7F9FC"/>
          </a:solidFill>
          <a:ln w="635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@Test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void checkLogin_shouldReturnNullWhenPasswordMismatch() {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    when(userDao.getUser("u01")).thenReturn(user);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    User result = userService.checkLogin("u01", "bad");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    assertNull(result);</a:t>
            </a:r>
          </a:p>
          <a:p>
            <a:pPr algn="l"/>
            <a:r>
              <a:rPr sz="1000">
                <a:solidFill>
                  <a:srgbClr val="283C50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892040"/>
            <a:ext cx="7498079" cy="5029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600" b="0">
                <a:solidFill>
                  <a:srgbClr val="AB4824"/>
                </a:solidFill>
                <a:latin typeface="Microsoft YaHei"/>
              </a:rPr>
              <a:t>左侧：controller 集成测试路径校验</a:t>
            </a:r>
          </a:p>
          <a:p>
            <a:pPr algn="ctr"/>
            <a:r>
              <a:rPr sz="1600" b="0">
                <a:solidFill>
                  <a:srgbClr val="AB4824"/>
                </a:solidFill>
                <a:latin typeface="Microsoft YaHei"/>
              </a:rPr>
              <a:t>右侧：service 单元测试分支校验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7200"/>
            <a:ext cx="1097280" cy="46634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service 层单元测试模块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48640"/>
            <a:ext cx="6949440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（com.demo.service.impl.*）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417320" y="114300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68"/>
                <a:gridCol w="2029968"/>
                <a:gridCol w="2029968"/>
                <a:gridCol w="2029968"/>
                <a:gridCol w="2029968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测试对象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用例编号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重点</a:t>
                      </a:r>
                    </a:p>
                  </a:txBody>
                  <a:tcPr>
                    <a:solidFill>
                      <a:srgbClr val="109D7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UserServiceImpl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UT-USER-001~008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登录、注册、增删改查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VenueServiceImpl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UT-VENUE-001~008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场馆查询、更新、删除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OrderServiceImpl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UT-ORDER-001~014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14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订单创建、取消、审核状态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MessageServiceImpl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UT-MSG-001~011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留言发布、审核、删除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NewsServiceImpl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UT-NEWS-001~005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新闻列表、详情、维护</a:t>
                      </a: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OrderVo/MessageVo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UT-*VO-*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聚合查询与边界路径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411480"/>
            <a:ext cx="777240" cy="50292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公共内容展示模块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"/>
            <a:ext cx="8778240" cy="32918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（IndexController.java / VenueController.java / NewsController.java）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51560" y="960120"/>
          <a:ext cx="10607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特性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函数/路径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测试设计技术</a:t>
                      </a:r>
                    </a:p>
                  </a:txBody>
                  <a:tcPr>
                    <a:solidFill>
                      <a:srgbClr val="72B2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首页展示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index(Model model)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集成测试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新闻列表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news(Model,int newsID)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等价类 + 边界值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新闻详情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news_list(... page ...)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边界值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场馆列表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venue_list(Model,int venueID)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等价类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场馆预约入口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venue_select(...)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判定覆盖</a:t>
                      </a: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场馆查询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checkVenueName(String venueName)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等价类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411480"/>
            <a:ext cx="777240" cy="50292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预约订单管理模块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"/>
            <a:ext cx="9052560" cy="32918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（OrderController.java / AdminOrderController.java / OrderServiceImpl.java）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51560" y="960120"/>
          <a:ext cx="10607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特性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函数/路径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覆盖重点</a:t>
                      </a:r>
                    </a:p>
                  </a:txBody>
                  <a:tcPr>
                    <a:solidFill>
                      <a:srgbClr val="29ADD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订单列表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order_list(... page ...)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登录态 + page 边界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创建订单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order_add(...)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有效类/无效类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取消订单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order_cancel(...)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权限与状态流转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管理员列表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order_manage(...)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筛选与分页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审核订单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order_check(... state ...)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判定覆盖 true/false</a:t>
                      </a:r>
                    </a:p>
                  </a:txBody>
                  <a:tcPr>
                    <a:solidFill>
                      <a:srgbClr val="DBF0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service 状态推进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add/delete/select/check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语句覆盖 + 异常路径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411480"/>
            <a:ext cx="777240" cy="50292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用户注册登录模块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"/>
            <a:ext cx="8869680" cy="32918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（UserController.java / AdminUserController.java / UserServiceImpl.java）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51560" y="960120"/>
          <a:ext cx="10607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特性</a:t>
                      </a: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函数/路径</a:t>
                      </a: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测试设计技术</a:t>
                      </a:r>
                    </a:p>
                  </a:txBody>
                  <a:tcPr>
                    <a:solidFill>
                      <a:srgbClr val="2A80B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登录成功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loginCheck(...)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有效等价类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登录失败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loginCheck(... bad pwd)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无效等价类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注册用户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registerCheck(...)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边界值 + 重复值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退出登录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logout(...)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状态清理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管理员增删改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admin/user/*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判定覆盖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service 校验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checkLogin/add/delete/update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语句覆盖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502920"/>
            <a:ext cx="777240" cy="42062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留言板模块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"/>
            <a:ext cx="9326880" cy="32918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（MessageController.java / AdminMessageController.java / MessageServiceImpl.java）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51560" y="960120"/>
          <a:ext cx="10607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特性</a:t>
                      </a: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函数/路径</a:t>
                      </a: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覆盖重点</a:t>
                      </a:r>
                    </a:p>
                  </a:txBody>
                  <a:tcPr>
                    <a:solidFill>
                      <a:srgbClr val="AB48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留言列表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message_list(... page ...)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分页边界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发布留言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message_add(...)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登录态 + 有效输入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空内容留言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message_add(empty)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无效等价类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删除留言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message_delete(...)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权限路径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管理员审核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message_check(... state ...)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判定覆盖</a:t>
                      </a:r>
                    </a:p>
                  </a:txBody>
                  <a:tcPr>
                    <a:solidFill>
                      <a:srgbClr val="F6DED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VO 查询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MessageVoServiceImpl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聚合查询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4048"/>
            <a:ext cx="777240" cy="52120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100" b="1">
                <a:solidFill>
                  <a:srgbClr val="000000"/>
                </a:solidFill>
                <a:latin typeface="Microsoft YaHei"/>
              </a:rPr>
              <a:t>后台管理与新闻模块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"/>
            <a:ext cx="9326880" cy="32918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（AdminVenueController.java / AdminNewsController.java / AdminUserController.java）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51560" y="960120"/>
          <a:ext cx="106070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特性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函数/路径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覆盖重点</a:t>
                      </a:r>
                    </a:p>
                  </a:txBody>
                  <a:tcPr>
                    <a:solidFill>
                      <a:srgbClr val="F191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场馆新增/修改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venue_add / venue_update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有效类 + 边界价格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场馆删除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venue_delete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存在/不存在 ID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新闻新增/修改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news_add / news_update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空标题/有效内容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新闻删除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news_delete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状态码与重定向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用户管理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user_add/update/delete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重复账号与无效 ID</a:t>
                      </a: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公共跳转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redirect/view/model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icrosoft YaHei"/>
                        </a:rPr>
                        <a:t>集成链路验证</a:t>
                      </a: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Microsoft YaHei"/>
              </a:rPr>
              <a:t>图表21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2920"/>
            <a:ext cx="4389120" cy="6858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800" b="1">
                <a:solidFill>
                  <a:srgbClr val="000000"/>
                </a:solidFill>
                <a:latin typeface="Microsoft YaHei"/>
              </a:rPr>
              <a:t>测试小结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10058400" cy="42062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本次测试已覆盖 service 与 controller 的核心功能链路，自动化脚本可重复执行。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128 条测试全部通过，整体指令覆盖率 92.54%，分支覆盖率 80.77%，满足测试计划出口准则。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用例设计同时体现等价类划分、边界值分析、语句覆盖与判定覆盖，兼顾完整性与冗余控制。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当前范围不包含浏览器 UI 自动化、性能测试和真实 MySQL 差异验证，这些已在《测试总结》中列为后续优化方向。</a:t>
            </a:r>
          </a:p>
          <a:p>
            <a:r>
              <a:rPr sz="1500" b="0">
                <a:solidFill>
                  <a:srgbClr val="000000"/>
                </a:solidFill>
                <a:latin typeface="Microsoft YaHei"/>
              </a:rPr>
              <a:t>• 提交前建议再次执行 mvn test，并将三份文档 PDF 与源码统一打包为 PJ1-小组编号.zip。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